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2" autoAdjust="0"/>
    <p:restoredTop sz="94660"/>
  </p:normalViewPr>
  <p:slideViewPr>
    <p:cSldViewPr snapToGrid="0">
      <p:cViewPr varScale="1">
        <p:scale>
          <a:sx n="69" d="100"/>
          <a:sy n="69" d="100"/>
        </p:scale>
        <p:origin x="3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7D411-EC4C-6B33-A8F6-A0DC664AE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20451-B995-F9B1-DDAF-237AAC845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BD665-AC4F-5498-A8DF-1243435DB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3CA4D-83F7-4730-97A2-1102D7772D50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7E7D8-9965-8DF7-596D-F09A08D8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1754B-9A74-92A0-DA1C-A997451A8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2E0E8-6D12-4D33-9FB1-C6C2D61EE3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6756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4BBB-B8F7-792C-E83D-25C0A7F51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B8A52-5B99-86B3-0F40-D99348E14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26DED-DFC7-1FC3-7FB0-513A91F41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3CA4D-83F7-4730-97A2-1102D7772D50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C4B74-972C-AED5-B268-972CB2531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499B3-5249-22F1-189B-347D9CB01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2E0E8-6D12-4D33-9FB1-C6C2D61EE3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207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983CF-31C7-492E-29E9-C197980B7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286BF-5C38-D40F-943D-87D5C893E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EB2B6-56CC-0D7E-3252-D39AFEC4A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3CA4D-83F7-4730-97A2-1102D7772D50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91A1F-74B1-B7EB-2F39-650A676F4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F801C-9535-41B9-75B6-77B2C0BAE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2E0E8-6D12-4D33-9FB1-C6C2D61EE3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571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151D8-3A0D-F9D6-DD03-9F6550E24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6D419-C942-A76C-941B-C87DCF25C1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B5AA4-5211-48BD-6E1C-EB89D8F96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2AB61-9F77-9FF3-6FF9-6561CBA9B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3CA4D-83F7-4730-97A2-1102D7772D50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03B59-1F29-165B-3383-136B08CF8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0C0D91-4D64-5274-D1A6-4936AB66D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2E0E8-6D12-4D33-9FB1-C6C2D61EE3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6310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A7B61-0172-BC75-8FC8-08F077936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D6546-1586-7D4D-4DD7-9B60B4716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55EDB-D9C1-4C6A-FD52-685D29E06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D45CF9-3673-511C-F00B-73FE2C2867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7E59FE-9011-43EB-CEDA-7B6178D6B6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81935-8134-59BC-B007-54335B5B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3CA4D-83F7-4730-97A2-1102D7772D50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83D999-4DB4-575D-6978-142702744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F097AC-39E5-371E-20C3-F322522EB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2E0E8-6D12-4D33-9FB1-C6C2D61EE3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4226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B4FA4-9F14-8E62-09BF-0370A1E4B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13C22A-A427-B0A4-16A5-A20243C3C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3CA4D-83F7-4730-97A2-1102D7772D50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D12249-9CAB-9E20-771B-4E81507D4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7266E5-F5AE-492F-F0D6-04B6DDCD9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2E0E8-6D12-4D33-9FB1-C6C2D61EE3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217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4704A0-12A4-E1D1-55C7-01449C44A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3CA4D-83F7-4730-97A2-1102D7772D50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A9E76C-1EDD-18E1-17F0-E0B9D10A6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90B8E-5A2C-ED87-AA8A-8CCCBAA99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2E0E8-6D12-4D33-9FB1-C6C2D61EE3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991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D9FE1-E336-62A7-94A3-4678F0AA9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E8528-5CC8-0020-D158-FFCA5BA26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BDCB50-93C4-8F50-0200-3EF0127B1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A2F2A-8453-A884-2F1F-61B889C9A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3CA4D-83F7-4730-97A2-1102D7772D50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BF020-EE02-A64E-18EE-F3C59DBE2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816FD-AFA1-F146-0175-0C37351D0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2E0E8-6D12-4D33-9FB1-C6C2D61EE3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3440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55901-65FC-0588-FE99-5566C5621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F90258-83E3-0673-0F71-143D4379ED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AB5B6-EDF2-1AEF-7167-CD0DDE9E49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6E80F-B421-C98C-C6DD-1CF41A927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3CA4D-83F7-4730-97A2-1102D7772D50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78153-F1B6-E079-ED71-4D61D4A45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6D48DE-CB0E-705D-6F67-5E7372E58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2E0E8-6D12-4D33-9FB1-C6C2D61EE3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509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67ABF-8552-4710-B593-8D2177275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FE433-EAAD-7DCF-95E9-A03F86A26D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32E67-609D-01CF-16A2-EE0E6E9FE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3CA4D-83F7-4730-97A2-1102D7772D50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086BA-FC2D-6D61-553B-1FB9DEB51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9F4C-55F7-898A-0946-2F7C18625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2E0E8-6D12-4D33-9FB1-C6C2D61EE3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472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74B69F-D1AE-D7BD-18CF-77D47F2976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38D613-E34E-8BA1-3E0D-45A900E9C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DAD4E-AC7C-F792-0AEA-E225951A8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3CA4D-83F7-4730-97A2-1102D7772D50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EDB50-3FB4-11A1-9291-2E8DE9C7C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2377E-83C8-3438-58BA-D638D852D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2E0E8-6D12-4D33-9FB1-C6C2D61EE3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572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80292A-9E49-7120-3650-AD6675E0E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DB91C-8B58-3A9C-DD74-D7C4B5D35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DDD96-1939-6BE3-C777-22418E50CC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B3CA4D-83F7-4730-97A2-1102D7772D50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3E753-60A1-0A54-D3EE-58041D7AD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A8C00-3AA6-F4C3-6205-D0E05F1E28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B2E0E8-6D12-4D33-9FB1-C6C2D61EE3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986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61103-E1EB-DEC4-3D98-35A2B2F780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2654"/>
            <a:ext cx="9144000" cy="3805381"/>
          </a:xfrm>
        </p:spPr>
        <p:txBody>
          <a:bodyPr>
            <a:normAutofit/>
          </a:bodyPr>
          <a:lstStyle/>
          <a:p>
            <a:r>
              <a:rPr lang="en-GB" dirty="0"/>
              <a:t>Searching for Systematics in the Cosmic Microwave Background with Simulation-Based Inference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CBDBAA-C5DB-8DCD-C813-3F7CA0534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30474"/>
            <a:ext cx="9144000" cy="923780"/>
          </a:xfrm>
        </p:spPr>
        <p:txBody>
          <a:bodyPr/>
          <a:lstStyle/>
          <a:p>
            <a:r>
              <a:rPr lang="en-GB" dirty="0"/>
              <a:t>Jay Vasireddy</a:t>
            </a:r>
          </a:p>
        </p:txBody>
      </p:sp>
    </p:spTree>
    <p:extLst>
      <p:ext uri="{BB962C8B-B14F-4D97-AF65-F5344CB8AC3E}">
        <p14:creationId xmlns:p14="http://schemas.microsoft.com/office/powerpoint/2010/main" val="1798471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9A9C0-16F9-3061-5563-66BCDA4AD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 of this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BBE68-761B-0E68-4BB1-D898F60EA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/>
              <a:t>Background/Motivation</a:t>
            </a:r>
          </a:p>
          <a:p>
            <a:pPr lvl="1"/>
            <a:r>
              <a:rPr lang="en-GB" dirty="0"/>
              <a:t>What is SBI – 2 slides?</a:t>
            </a:r>
          </a:p>
          <a:p>
            <a:pPr lvl="1"/>
            <a:r>
              <a:rPr lang="en-GB" dirty="0"/>
              <a:t>What is a systematic, examples in the CMB?</a:t>
            </a:r>
          </a:p>
          <a:p>
            <a:pPr lvl="1"/>
            <a:r>
              <a:rPr lang="en-GB" dirty="0"/>
              <a:t>Our aim/method: adapt null tests to assess sensitivity to bias. Done by splitting dataset, injecting systematic and comparing posteriors</a:t>
            </a:r>
          </a:p>
          <a:p>
            <a:r>
              <a:rPr lang="en-GB" dirty="0"/>
              <a:t>A list of tests from CMB papers, contours form SBI method, how to transfer – connect the two together</a:t>
            </a:r>
          </a:p>
          <a:p>
            <a:r>
              <a:rPr lang="en-GB" dirty="0"/>
              <a:t>Introduce my method, and how I aim to solve it (bridging gap between </a:t>
            </a:r>
            <a:r>
              <a:rPr lang="en-GB" dirty="0" err="1"/>
              <a:t>cmb</a:t>
            </a:r>
            <a:r>
              <a:rPr lang="en-GB" dirty="0"/>
              <a:t> techniques and </a:t>
            </a:r>
            <a:r>
              <a:rPr lang="en-GB" dirty="0" err="1"/>
              <a:t>sbi</a:t>
            </a:r>
            <a:r>
              <a:rPr lang="en-GB" dirty="0"/>
              <a:t> problems)</a:t>
            </a:r>
          </a:p>
          <a:p>
            <a:r>
              <a:rPr lang="en-GB" dirty="0"/>
              <a:t>SBI Pipeline (short, 1 slide?)</a:t>
            </a:r>
          </a:p>
          <a:p>
            <a:r>
              <a:rPr lang="en-GB" dirty="0"/>
              <a:t>KL </a:t>
            </a:r>
            <a:r>
              <a:rPr lang="en-GB"/>
              <a:t>Divergence explanation</a:t>
            </a:r>
            <a:endParaRPr lang="en-GB" dirty="0"/>
          </a:p>
          <a:p>
            <a:r>
              <a:rPr lang="en-GB" dirty="0"/>
              <a:t>2D Gaussian example:</a:t>
            </a:r>
          </a:p>
          <a:p>
            <a:pPr lvl="1"/>
            <a:r>
              <a:rPr lang="en-GB" dirty="0"/>
              <a:t>Test 1: shifting means/variance (represents measuring same thing with different instruments), show results, sensitivity</a:t>
            </a:r>
          </a:p>
          <a:p>
            <a:pPr lvl="1"/>
            <a:r>
              <a:rPr lang="en-GB" dirty="0"/>
              <a:t>Test 2: adding correlation, show results</a:t>
            </a:r>
          </a:p>
          <a:p>
            <a:r>
              <a:rPr lang="en-GB" dirty="0"/>
              <a:t>Lotka-</a:t>
            </a:r>
            <a:r>
              <a:rPr lang="en-GB" dirty="0" err="1"/>
              <a:t>Voltera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Test: adding different noise to each split. Interesting thing to show is how KL varies depending on how data is split (vs </a:t>
            </a:r>
            <a:r>
              <a:rPr lang="en-GB" dirty="0" err="1"/>
              <a:t>iid</a:t>
            </a:r>
            <a:r>
              <a:rPr lang="en-GB" dirty="0"/>
              <a:t> Normals)</a:t>
            </a:r>
          </a:p>
          <a:p>
            <a:r>
              <a:rPr lang="en-GB" dirty="0"/>
              <a:t>CAMB Case:</a:t>
            </a:r>
          </a:p>
          <a:p>
            <a:pPr lvl="1"/>
            <a:r>
              <a:rPr lang="en-GB" dirty="0"/>
              <a:t>Can mention use of score compression/any specific changes to pipeline</a:t>
            </a:r>
          </a:p>
          <a:p>
            <a:pPr lvl="1"/>
            <a:r>
              <a:rPr lang="en-GB" dirty="0"/>
              <a:t>Need more here (pipeline only now working)</a:t>
            </a:r>
          </a:p>
          <a:p>
            <a:r>
              <a:rPr lang="en-GB" dirty="0"/>
              <a:t>Tuesday at 2pm: practice, get at least everything up till </a:t>
            </a:r>
            <a:r>
              <a:rPr lang="en-GB" dirty="0" err="1"/>
              <a:t>cmb</a:t>
            </a:r>
            <a:r>
              <a:rPr lang="en-GB" dirty="0"/>
              <a:t> done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7841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B8D53-323C-FFEC-2895-E3EF95693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Background/Motivation – What is SBI?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A083E-6A8E-6F7C-98CB-06E9C543C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Cosmological datasets are complicated</a:t>
            </a:r>
          </a:p>
          <a:p>
            <a:r>
              <a:rPr lang="en-GB" dirty="0"/>
              <a:t>Traditional Bayesian inference is often not possible</a:t>
            </a:r>
          </a:p>
          <a:p>
            <a:r>
              <a:rPr lang="en-GB" dirty="0"/>
              <a:t>Simulation-Based Inference</a:t>
            </a:r>
          </a:p>
        </p:txBody>
      </p:sp>
    </p:spTree>
    <p:extLst>
      <p:ext uri="{BB962C8B-B14F-4D97-AF65-F5344CB8AC3E}">
        <p14:creationId xmlns:p14="http://schemas.microsoft.com/office/powerpoint/2010/main" val="521723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06132-784B-8C25-1282-21F56CF88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80AAE-179A-ADF1-965F-1CAFADDBC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Background/Motivation – What is a systematic bias?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63C5C-329F-FAB2-0024-96AC1A739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Systematic bias: e.g. consistent shift in something due to something (measurement error/faulty equipment)</a:t>
            </a:r>
          </a:p>
          <a:p>
            <a:r>
              <a:rPr lang="en-GB" dirty="0"/>
              <a:t>CMB examples:</a:t>
            </a:r>
          </a:p>
          <a:p>
            <a:pPr lvl="1"/>
            <a:r>
              <a:rPr lang="en-GB" dirty="0"/>
              <a:t>Beam miscalibration</a:t>
            </a:r>
          </a:p>
          <a:p>
            <a:pPr lvl="1"/>
            <a:r>
              <a:rPr lang="en-GB" dirty="0"/>
              <a:t>Pointing errors</a:t>
            </a:r>
          </a:p>
          <a:p>
            <a:pPr lvl="1"/>
            <a:r>
              <a:rPr lang="en-GB" dirty="0"/>
              <a:t>Correlated noise</a:t>
            </a:r>
          </a:p>
          <a:p>
            <a:pPr lvl="1"/>
            <a:r>
              <a:rPr lang="en-GB" dirty="0"/>
              <a:t>Other stuff</a:t>
            </a:r>
          </a:p>
        </p:txBody>
      </p:sp>
    </p:spTree>
    <p:extLst>
      <p:ext uri="{BB962C8B-B14F-4D97-AF65-F5344CB8AC3E}">
        <p14:creationId xmlns:p14="http://schemas.microsoft.com/office/powerpoint/2010/main" val="3406839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A1173-6B5A-08EA-01EE-D3D555B4D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FF2CE-A430-6349-72F9-FC204B997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Background/Motivation – Our 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CFABB-F3E3-2F4D-5036-D0611F8D2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Adapt null tests to assess sensitivity to bias. Done by splitting dataset, injecting systematic and comparing posteriors</a:t>
            </a:r>
          </a:p>
          <a:p>
            <a:r>
              <a:rPr lang="en-GB" dirty="0"/>
              <a:t>How are we comparing </a:t>
            </a:r>
            <a:r>
              <a:rPr lang="en-GB" dirty="0" err="1"/>
              <a:t>psoteriors</a:t>
            </a:r>
            <a:r>
              <a:rPr lang="en-GB" dirty="0"/>
              <a:t>: KL divergence</a:t>
            </a:r>
          </a:p>
        </p:txBody>
      </p:sp>
    </p:spTree>
    <p:extLst>
      <p:ext uri="{BB962C8B-B14F-4D97-AF65-F5344CB8AC3E}">
        <p14:creationId xmlns:p14="http://schemas.microsoft.com/office/powerpoint/2010/main" val="535328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E8622-5BB9-0273-3519-6720B53B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22631-EB33-3151-27C5-DA9635C8C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054A95-E6DA-8D2F-EB2E-10087FE9D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654" y="1494740"/>
            <a:ext cx="9467272" cy="499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914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311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Searching for Systematics in the Cosmic Microwave Background with Simulation-Based Inference </vt:lpstr>
      <vt:lpstr>Structure of this presentation</vt:lpstr>
      <vt:lpstr>Background/Motivation – What is SBI?</vt:lpstr>
      <vt:lpstr>Background/Motivation – What is a systematic bias?</vt:lpstr>
      <vt:lpstr>Background/Motivation – Our Aims</vt:lpstr>
      <vt:lpstr>Method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 Vasireddy</dc:creator>
  <cp:lastModifiedBy>Jay Vasireddy</cp:lastModifiedBy>
  <cp:revision>2</cp:revision>
  <dcterms:created xsi:type="dcterms:W3CDTF">2026-03-05T11:27:44Z</dcterms:created>
  <dcterms:modified xsi:type="dcterms:W3CDTF">2026-03-05T16:31:10Z</dcterms:modified>
</cp:coreProperties>
</file>